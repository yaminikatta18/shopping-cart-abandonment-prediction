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18"/>
    <p:sldId id="262" r:id="rId8"/>
    <p:sldId id="263" r:id="rId9"/>
    <p:sldId id="264" r:id="rId10"/>
    <p:sldId id="266" r:id="rId11"/>
    <p:sldId id="267" r:id="rId12"/>
    <p:sldId id="270" r:id="rId19"/>
    <p:sldId id="271" r:id="rId20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  <Relationship Id="rId18" Type="http://schemas.openxmlformats.org/officeDocument/2006/relationships/slide" Target="slides/slide13.xml"/>
  <Relationship Id="rId19" Type="http://schemas.openxmlformats.org/officeDocument/2006/relationships/slide" Target="slides/slide14.xml"/>
  <Relationship Id="rId20" Type="http://schemas.openxmlformats.org/officeDocument/2006/relationships/slide" Target="slides/slide15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42FCC-F6A1-DD2B-BD10-4B002F9659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1576774"/>
          </a:xfrm>
        </p:spPr>
        <p:txBody>
          <a:bodyPr/>
          <a:lstStyle/>
          <a:p>
            <a:r>
              <a:rPr lang="en-US" sz="3600" dirty="0"/>
              <a:t>Shopping Cart Abandonment Prediction Using Decision Trees and Random Forest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E87EA-2010-BD11-80CA-3C9FEA3E0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4498" y="3365228"/>
            <a:ext cx="6647081" cy="2167825"/>
          </a:xfrm>
        </p:spPr>
        <p:txBody>
          <a:bodyPr>
            <a:normAutofit lnSpcReduction="10000"/>
          </a:bodyPr>
          <a:lstStyle/>
          <a:p>
            <a:r>
              <a:rPr lang="en-IN" dirty="0"/>
              <a:t>Machine Learning – 25SC2107E</a:t>
            </a:r>
          </a:p>
          <a:p>
            <a:endParaRPr lang="en-IN" dirty="0"/>
          </a:p>
          <a:p>
            <a:endParaRPr lang="en-IN" dirty="0"/>
          </a:p>
          <a:p>
            <a:endParaRPr lang="en-US" sz="2000" b="1" dirty="0"/>
          </a:p>
          <a:p>
            <a:r>
              <a:rPr lang="en-US" sz="2000" b="1" dirty="0"/>
              <a:t>Guided by:</a:t>
            </a:r>
            <a:r>
              <a:rPr lang="en-US" sz="2000" dirty="0"/>
              <a:t> </a:t>
            </a:r>
          </a:p>
          <a:p>
            <a:r>
              <a:rPr lang="en-US" sz="2000" dirty="0"/>
              <a:t>     </a:t>
            </a:r>
            <a:r>
              <a:rPr lang="en-US" dirty="0"/>
              <a:t>Rani Mam, Assistant Professor</a:t>
            </a: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702514C-8021-30A4-33F6-044031857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5347" y="4008671"/>
            <a:ext cx="334914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Yamini Katta — 2520030380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Lekhana L — 2520030364 </a:t>
            </a:r>
          </a:p>
        </p:txBody>
      </p:sp>
    </p:spTree>
    <p:extLst>
      <p:ext uri="{BB962C8B-B14F-4D97-AF65-F5344CB8AC3E}">
        <p14:creationId xmlns:p14="http://schemas.microsoft.com/office/powerpoint/2010/main" val="207720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Cart Abandonment in E-Commerce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371600" y="1450000"/>
            <a:ext cx="5500000" cy="4600000"/>
          </a:xfrm>
        </p:spPr>
        <p:txBody>
          <a:bodyPr>
            <a:norm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Customers often add products to their cart but leave without completing the purchase.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This is known as </a:t>
            </a:r>
            <a:r>
              <a:rPr lang="en-US" sz="1800" b="1" dirty="0">
                <a:solidFill>
                  <a:schemeClr val="tx2"/>
                </a:solidFill>
              </a:rPr>
              <a:t>shopping cart abandonment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Abandoned carts mean potential </a:t>
            </a:r>
            <a:r>
              <a:rPr lang="en-US" sz="1800" b="1" dirty="0">
                <a:solidFill>
                  <a:schemeClr val="tx2"/>
                </a:solidFill>
              </a:rPr>
              <a:t>revenue loss</a:t>
            </a:r>
            <a:r>
              <a:rPr lang="en-US" sz="1800" dirty="0">
                <a:solidFill>
                  <a:schemeClr val="tx2"/>
                </a:solidFill>
              </a:rPr>
              <a:t> for e-commerce businesses.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Machine Learning can analyze customer behavior and predict whether a customer is likely to abandon the cart.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This allows businesses to take timely action before the customer leaves.</a:t>
            </a:r>
          </a:p>
        </p:txBody>
      </p:sp>
      <p:sp>
        <p:nvSpPr>
          <p:cNvPr id="4" name="Step 1 card"/>
          <p:cNvSpPr/>
          <p:nvPr/>
        </p:nvSpPr>
        <p:spPr>
          <a:xfrm>
            <a:off x="7300000" y="1550000"/>
            <a:ext cx="3672800" cy="10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640000" tIns="320000" rIns="640000" bIns="32000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Customer adds products to the cart</a:t>
            </a:r>
          </a:p>
        </p:txBody>
      </p:sp>
      <p:sp>
        <p:nvSpPr>
          <p:cNvPr id="5" name="Badge 1"/>
          <p:cNvSpPr/>
          <p:nvPr/>
        </p:nvSpPr>
        <p:spPr>
          <a:xfrm>
            <a:off x="7410000" y="1840000"/>
            <a:ext cx="420000" cy="42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6" name="Arrow 6"/>
          <p:cNvSpPr/>
          <p:nvPr/>
        </p:nvSpPr>
        <p:spPr>
          <a:xfrm>
            <a:off x="8966400" y="2640000"/>
            <a:ext cx="340000" cy="38000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Step 2 card"/>
          <p:cNvSpPr/>
          <p:nvPr/>
        </p:nvSpPr>
        <p:spPr>
          <a:xfrm>
            <a:off x="7300000" y="3110000"/>
            <a:ext cx="3672800" cy="1000000"/>
          </a:xfrm>
          <a:prstGeom prst="roundRect">
            <a:avLst>
              <a:gd name="adj" fmla="val 8000"/>
            </a:avLst>
          </a:prstGeom>
          <a:solidFill>
            <a:srgbClr val="E28394"/>
          </a:solidFill>
          <a:ln>
            <a:noFill/>
          </a:ln>
        </p:spPr>
        <p:txBody>
          <a:bodyPr wrap="square" lIns="640000" tIns="320000" rIns="640000" bIns="32000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Leaves without completing the purchase</a:t>
            </a:r>
          </a:p>
        </p:txBody>
      </p:sp>
      <p:sp>
        <p:nvSpPr>
          <p:cNvPr id="8" name="Badge 2"/>
          <p:cNvSpPr/>
          <p:nvPr/>
        </p:nvSpPr>
        <p:spPr>
          <a:xfrm>
            <a:off x="7410000" y="3400000"/>
            <a:ext cx="420000" cy="42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9" name="Arrow 9"/>
          <p:cNvSpPr/>
          <p:nvPr/>
        </p:nvSpPr>
        <p:spPr>
          <a:xfrm>
            <a:off x="8966400" y="4200000"/>
            <a:ext cx="340000" cy="38000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Step 3 card"/>
          <p:cNvSpPr/>
          <p:nvPr/>
        </p:nvSpPr>
        <p:spPr>
          <a:xfrm>
            <a:off x="7300000" y="4670000"/>
            <a:ext cx="3672800" cy="1000000"/>
          </a:xfrm>
          <a:prstGeom prst="roundRect">
            <a:avLst>
              <a:gd name="adj" fmla="val 8000"/>
            </a:avLst>
          </a:prstGeom>
          <a:solidFill>
            <a:srgbClr val="8DAB8E"/>
          </a:solidFill>
          <a:ln>
            <a:noFill/>
          </a:ln>
        </p:spPr>
        <p:txBody>
          <a:bodyPr wrap="square" lIns="640000" tIns="320000" rIns="640000" bIns="32000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ML predicts the risk, so a timely offer can be sent</a:t>
            </a:r>
          </a:p>
        </p:txBody>
      </p:sp>
      <p:sp>
        <p:nvSpPr>
          <p:cNvPr id="11" name="Badge 3"/>
          <p:cNvSpPr/>
          <p:nvPr/>
        </p:nvSpPr>
        <p:spPr>
          <a:xfrm>
            <a:off x="7410000" y="4960000"/>
            <a:ext cx="420000" cy="42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Problem Statement</a:t>
            </a:r>
          </a:p>
        </p:txBody>
      </p:sp>
      <p:sp>
        <p:nvSpPr>
          <p:cNvPr id="9" name="Card 1"/>
          <p:cNvSpPr/>
          <p:nvPr/>
        </p:nvSpPr>
        <p:spPr>
          <a:xfrm>
            <a:off x="1371600" y="1500000"/>
            <a:ext cx="3048000" cy="39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228600" tIns="114300" rIns="228600" bIns="1143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The challenge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Customers add products to their shopping carts but leave without purchasing, which leads to lost sales and revenue for e-commerce businesses.</a:t>
            </a:r>
          </a:p>
        </p:txBody>
      </p:sp>
      <p:sp>
        <p:nvSpPr>
          <p:cNvPr id="10" name="Card 2"/>
          <p:cNvSpPr/>
          <p:nvPr/>
        </p:nvSpPr>
        <p:spPr>
          <a:xfrm>
            <a:off x="4648200" y="1500000"/>
            <a:ext cx="3048000" cy="39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228600" tIns="114300" rIns="228600" bIns="1143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The gap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It is hard to tell who will abandon from basic shopping activity alone. Browsing time, products viewed, cart value, previous purchases and discount usage hold useful patterns.</a:t>
            </a:r>
          </a:p>
        </p:txBody>
      </p:sp>
      <p:sp>
        <p:nvSpPr>
          <p:cNvPr id="11" name="Card 3"/>
          <p:cNvSpPr/>
          <p:nvPr/>
        </p:nvSpPr>
        <p:spPr>
          <a:xfrm>
            <a:off x="7924800" y="1500000"/>
            <a:ext cx="3048000" cy="39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228600" tIns="114300" rIns="228600" bIns="1143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Our solution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A machine learning system that analyzes this behavior and classifies each customer as likely to abandon the cart or to complete the purchase.</a:t>
            </a:r>
          </a:p>
        </p:txBody>
      </p:sp>
      <p:sp>
        <p:nvSpPr>
          <p:cNvPr id="12" name="Badge 1"/>
          <p:cNvSpPr/>
          <p:nvPr/>
        </p:nvSpPr>
        <p:spPr>
          <a:xfrm>
            <a:off x="1600200" y="1700000"/>
            <a:ext cx="420000" cy="42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3" name="Badge 2"/>
          <p:cNvSpPr/>
          <p:nvPr/>
        </p:nvSpPr>
        <p:spPr>
          <a:xfrm>
            <a:off x="4876800" y="1700000"/>
            <a:ext cx="420000" cy="42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2</a:t>
            </a:r>
          </a:p>
        </p:txBody>
      </p:sp>
      <p:sp>
        <p:nvSpPr>
          <p:cNvPr id="14" name="Badge 3"/>
          <p:cNvSpPr/>
          <p:nvPr/>
        </p:nvSpPr>
        <p:spPr>
          <a:xfrm>
            <a:off x="8153400" y="1700000"/>
            <a:ext cx="420000" cy="42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wrap="square" lIns="0" tIns="45720" rIns="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bg2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Project Objectives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371600" y="1400000"/>
            <a:ext cx="9601200" cy="4900000"/>
          </a:xfrm>
        </p:spPr>
        <p:txBody>
          <a:bodyPr>
            <a:norm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To analyze customer behavior in e-commerce shopping activities.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To identify factors that influence shopping cart abandonment.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To preprocess customer and transaction-related data for prediction.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To develop a </a:t>
            </a:r>
            <a:r>
              <a:rPr lang="en-US" sz="1800" b="1" dirty="0">
                <a:solidFill>
                  <a:schemeClr val="tx2"/>
                </a:solidFill>
              </a:rPr>
              <a:t>Decision Tree</a:t>
            </a:r>
            <a:r>
              <a:rPr lang="en-US" sz="1800" dirty="0">
                <a:solidFill>
                  <a:schemeClr val="tx2"/>
                </a:solidFill>
              </a:rPr>
              <a:t> classification model.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To develop a </a:t>
            </a:r>
            <a:r>
              <a:rPr lang="en-US" sz="1800" b="1" dirty="0">
                <a:solidFill>
                  <a:schemeClr val="tx2"/>
                </a:solidFill>
              </a:rPr>
              <a:t>Random Forest</a:t>
            </a:r>
            <a:r>
              <a:rPr lang="en-US" sz="1800" dirty="0">
                <a:solidFill>
                  <a:schemeClr val="tx2"/>
                </a:solidFill>
              </a:rPr>
              <a:t> classification model.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To evaluate and compare the performance of both models.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To predict whether a customer is likely to </a:t>
            </a:r>
            <a:r>
              <a:rPr lang="en-US" sz="1800" b="1" dirty="0">
                <a:solidFill>
                  <a:schemeClr val="tx2"/>
                </a:solidFill>
              </a:rPr>
              <a:t>abandon the cart or complete the purchase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To help e-commerce businesses take timely actions such as </a:t>
            </a:r>
            <a:r>
              <a:rPr lang="en-US" sz="1800" b="1" dirty="0">
                <a:solidFill>
                  <a:schemeClr val="tx2"/>
                </a:solidFill>
              </a:rPr>
              <a:t>personalized offers and reminders</a:t>
            </a:r>
            <a:r>
              <a:rPr lang="en-US" sz="1800" dirty="0">
                <a:solidFill>
                  <a:schemeClr val="tx2"/>
                </a:solidFill>
              </a:rPr>
              <a:t>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lang="en-US" sz="1800" dirty="0">
                <a:solidFill>
                  <a:schemeClr val="tx2"/>
                </a:solidFill>
              </a:rPr>
              <a:t>To deploy both models in a </a:t>
            </a:r>
            <a:r>
              <a:rPr lang="en-US" sz="1800" b="1" dirty="0">
                <a:solidFill>
                  <a:schemeClr val="tx2"/>
                </a:solidFill>
              </a:rPr>
              <a:t>Flask web application</a:t>
            </a:r>
            <a:r>
              <a:rPr lang="en-US" sz="1800" dirty="0">
                <a:solidFill>
                  <a:schemeClr val="tx2"/>
                </a:solidFill>
              </a:rPr>
              <a:t> for live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Features Used</a:t>
            </a:r>
          </a:p>
        </p:txBody>
      </p:sp>
      <p:graphicFrame>
        <p:nvGraphicFramePr>
          <p:cNvPr id="3" name="Features table"/>
          <p:cNvGraphicFramePr>
            <a:graphicFrameLocks noGrp="1"/>
          </p:cNvGraphicFramePr>
          <p:nvPr/>
        </p:nvGraphicFramePr>
        <p:xfrm>
          <a:off x="1371600" y="1400000"/>
          <a:ext cx="9601200" cy="2520000"/>
        </p:xfrm>
        <a:graphic>
          <a:graphicData uri="http://schemas.openxmlformats.org/drawingml/2006/table">
            <a:tbl>
              <a:tblPr firstRow="1"/>
              <a:tblGrid>
                <a:gridCol w="2286000"/>
                <a:gridCol w="3657600"/>
                <a:gridCol w="3657600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Feature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Description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2"/>
                          </a:solidFill>
                        </a:rPr>
                        <a:t>Range in dataset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Browsing Time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Time spent browsing the website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1–60 min · mean 15.04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Products Viewed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Number of products viewed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1–22 · mean 9.04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Cart Value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Total value of products in the cart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10–1000 · mean 93.63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Previous Purchases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Customer’s earlier purchase activity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0–10 · mean 2.53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chemeClr val="tx2"/>
                          </a:solidFill>
                        </a:rPr>
                        <a:t>Discount Usage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Whether a discount was used (0 / 1)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used by 39% of customers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Target card"/>
          <p:cNvSpPr/>
          <p:nvPr/>
        </p:nvSpPr>
        <p:spPr>
          <a:xfrm>
            <a:off x="1371600" y="4250000"/>
            <a:ext cx="3048000" cy="15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Target variable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Shopping Cart Abandonment</a:t>
            </a:r>
          </a:p>
        </p:txBody>
      </p:sp>
      <p:sp>
        <p:nvSpPr>
          <p:cNvPr id="5" name="Class 0 card"/>
          <p:cNvSpPr/>
          <p:nvPr/>
        </p:nvSpPr>
        <p:spPr>
          <a:xfrm>
            <a:off x="4648200" y="4250000"/>
            <a:ext cx="3048000" cy="1500000"/>
          </a:xfrm>
          <a:prstGeom prst="roundRect">
            <a:avLst>
              <a:gd name="adj" fmla="val 8000"/>
            </a:avLst>
          </a:prstGeom>
          <a:solidFill>
            <a:srgbClr val="8DAB8E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0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Purchase Completed</a:t>
            </a:r>
          </a:p>
        </p:txBody>
      </p:sp>
      <p:sp>
        <p:nvSpPr>
          <p:cNvPr id="6" name="Class 1 card"/>
          <p:cNvSpPr/>
          <p:nvPr/>
        </p:nvSpPr>
        <p:spPr>
          <a:xfrm>
            <a:off x="7924800" y="4250000"/>
            <a:ext cx="3048000" cy="1500000"/>
          </a:xfrm>
          <a:prstGeom prst="roundRect">
            <a:avLst>
              <a:gd name="adj" fmla="val 8000"/>
            </a:avLst>
          </a:prstGeom>
          <a:solidFill>
            <a:srgbClr val="E28394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1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Cart Abandoned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Generated image: Pastel Shopping Cart Prediction Flowchart">
            <a:extLst>
              <a:ext uri="{FF2B5EF4-FFF2-40B4-BE49-F238E27FC236}">
                <a16:creationId xmlns:a16="http://schemas.microsoft.com/office/drawing/2014/main" id="{CCB575F9-EADC-BD29-A8A9-FB81D0B70A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45492" y="963827"/>
            <a:ext cx="7747686" cy="5263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9AF3D8-9BEB-FFAB-A501-C96098725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983" y="0"/>
            <a:ext cx="65220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68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Decision Tree Algorithm</a:t>
            </a:r>
          </a:p>
        </p:txBody>
      </p:sp>
      <p:sp>
        <p:nvSpPr>
          <p:cNvPr id="3" name="DT text"/>
          <p:cNvSpPr txBox="1"/>
          <p:nvPr/>
        </p:nvSpPr>
        <p:spPr>
          <a:xfrm>
            <a:off x="1371600" y="1350000"/>
            <a:ext cx="490000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Decision Tree Classifier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A supervised learning algorithm that classifies by splitting data into smaller groups with a sequence of decision rules.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How it works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Takes customer behavior features as input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Creates decision rules from the features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Follows branches based on customer behavior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Produces a final classification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In our project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Gini splits, max depth 5, at least 20 customers per leaf</a:t>
            </a:r>
          </a:p>
        </p:txBody>
      </p:sp>
      <p:sp>
        <p:nvSpPr>
          <p:cNvPr id="4" name="Root node"/>
          <p:cNvSpPr/>
          <p:nvPr/>
        </p:nvSpPr>
        <p:spPr>
          <a:xfrm>
            <a:off x="7536400" y="1450000"/>
            <a:ext cx="2500000" cy="760000"/>
          </a:xfrm>
          <a:prstGeom prst="roundRect">
            <a:avLst>
              <a:gd name="adj" fmla="val 8000"/>
            </a:avLst>
          </a:prstGeom>
          <a:solidFill>
            <a:srgbClr val="77A2BB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Cart value ≤ 93.77?</a:t>
            </a:r>
          </a:p>
        </p:txBody>
      </p:sp>
      <p:sp>
        <p:nvSpPr>
          <p:cNvPr id="5" name="Left node"/>
          <p:cNvSpPr/>
          <p:nvPr/>
        </p:nvSpPr>
        <p:spPr>
          <a:xfrm>
            <a:off x="6600000" y="3000000"/>
            <a:ext cx="2100000" cy="8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Browsing time ≤ 16.55?</a:t>
            </a:r>
          </a:p>
        </p:txBody>
      </p:sp>
      <p:sp>
        <p:nvSpPr>
          <p:cNvPr id="6" name="Right node"/>
          <p:cNvSpPr/>
          <p:nvPr/>
        </p:nvSpPr>
        <p:spPr>
          <a:xfrm>
            <a:off x="8872800" y="3000000"/>
            <a:ext cx="2100000" cy="8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Browsing time ≤ 9.75?</a:t>
            </a:r>
          </a:p>
        </p:txBody>
      </p:sp>
      <p:cxnSp>
        <p:nvCxnSpPr>
          <p:cNvPr id="7" name="Connector 7"/>
          <p:cNvCxnSpPr/>
          <p:nvPr/>
        </p:nvCxnSpPr>
        <p:spPr>
          <a:xfrm flipH="1">
            <a:off x="7650000" y="2210000"/>
            <a:ext cx="1136400" cy="790000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cxnSp>
        <p:nvCxnSpPr>
          <p:cNvPr id="8" name="Connector 8"/>
          <p:cNvCxnSpPr/>
          <p:nvPr/>
        </p:nvCxnSpPr>
        <p:spPr>
          <a:xfrm>
            <a:off x="8786400" y="2210000"/>
            <a:ext cx="1136400" cy="790000"/>
          </a:xfrm>
          <a:prstGeom prst="line">
            <a:avLst/>
          </a:prstGeom>
          <a:ln w="19050">
            <a:solidFill>
              <a:schemeClr val="tx2"/>
            </a:solidFill>
          </a:ln>
        </p:spPr>
      </p:cxnSp>
      <p:sp>
        <p:nvSpPr>
          <p:cNvPr id="9" name="More splits"/>
          <p:cNvSpPr txBox="1"/>
          <p:nvPr/>
        </p:nvSpPr>
        <p:spPr>
          <a:xfrm>
            <a:off x="6600000" y="3950000"/>
            <a:ext cx="43728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… further splits down to depth 5</a:t>
            </a:r>
          </a:p>
        </p:txBody>
      </p:sp>
      <p:sp>
        <p:nvSpPr>
          <p:cNvPr id="10" name="Output label"/>
          <p:cNvSpPr txBox="1"/>
          <p:nvPr/>
        </p:nvSpPr>
        <p:spPr>
          <a:xfrm>
            <a:off x="6600000" y="4600000"/>
            <a:ext cx="43728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Output</a:t>
            </a:r>
          </a:p>
        </p:txBody>
      </p:sp>
      <p:sp>
        <p:nvSpPr>
          <p:cNvPr id="11" name="Leaf completed"/>
          <p:cNvSpPr/>
          <p:nvPr/>
        </p:nvSpPr>
        <p:spPr>
          <a:xfrm>
            <a:off x="6600000" y="5000000"/>
            <a:ext cx="2086400" cy="850000"/>
          </a:xfrm>
          <a:prstGeom prst="roundRect">
            <a:avLst>
              <a:gd name="adj" fmla="val 8000"/>
            </a:avLst>
          </a:prstGeom>
          <a:solidFill>
            <a:srgbClr val="8DAB8E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Purchase Completed</a:t>
            </a:r>
          </a:p>
        </p:txBody>
      </p:sp>
      <p:sp>
        <p:nvSpPr>
          <p:cNvPr id="12" name="Leaf abandoned"/>
          <p:cNvSpPr/>
          <p:nvPr/>
        </p:nvSpPr>
        <p:spPr>
          <a:xfrm>
            <a:off x="8886400" y="5000000"/>
            <a:ext cx="2086400" cy="850000"/>
          </a:xfrm>
          <a:prstGeom prst="roundRect">
            <a:avLst>
              <a:gd name="adj" fmla="val 8000"/>
            </a:avLst>
          </a:prstGeom>
          <a:solidFill>
            <a:srgbClr val="E28394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Cart Abandoned</a:t>
            </a:r>
          </a:p>
        </p:txBody>
      </p:sp>
      <p:sp>
        <p:nvSpPr>
          <p:cNvPr id="13" name="Caption"/>
          <p:cNvSpPr txBox="1"/>
          <p:nvPr/>
        </p:nvSpPr>
        <p:spPr>
          <a:xfrm>
            <a:off x="6600000" y="5950000"/>
            <a:ext cx="43728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>
                <a:solidFill>
                  <a:schemeClr val="tx2"/>
                </a:solidFill>
              </a:rPr>
              <a:t>Top two levels of the trained tree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Random Forest Algorithm</a:t>
            </a:r>
          </a:p>
        </p:txBody>
      </p:sp>
      <p:sp>
        <p:nvSpPr>
          <p:cNvPr id="3" name="RF text"/>
          <p:cNvSpPr txBox="1"/>
          <p:nvPr/>
        </p:nvSpPr>
        <p:spPr>
          <a:xfrm>
            <a:off x="1371600" y="1350000"/>
            <a:ext cx="4900000" cy="5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Random Forest Classifier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A supervised classification algorithm that combines many Decision Trees to make one prediction.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How it works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Builds multiple trees from the training data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Each tree makes its own prediction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The predictions are combined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The result determines the cart status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In our project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200 trees, max depth 10; out-of-bag accuracy 75.5%</a:t>
            </a:r>
          </a:p>
        </p:txBody>
      </p:sp>
      <p:sp>
        <p:nvSpPr>
          <p:cNvPr id="4" name="Tree 1"/>
          <p:cNvSpPr/>
          <p:nvPr/>
        </p:nvSpPr>
        <p:spPr>
          <a:xfrm>
            <a:off x="6600000" y="1450000"/>
            <a:ext cx="1000000" cy="800000"/>
          </a:xfrm>
          <a:prstGeom prst="roundRect">
            <a:avLst>
              <a:gd name="adj" fmla="val 8000"/>
            </a:avLst>
          </a:prstGeom>
          <a:solidFill>
            <a:srgbClr val="77A2BB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Tree 1</a:t>
            </a:r>
          </a:p>
        </p:txBody>
      </p:sp>
      <p:sp>
        <p:nvSpPr>
          <p:cNvPr id="5" name="Tree 2"/>
          <p:cNvSpPr/>
          <p:nvPr/>
        </p:nvSpPr>
        <p:spPr>
          <a:xfrm>
            <a:off x="7724266" y="1450000"/>
            <a:ext cx="1000000" cy="800000"/>
          </a:xfrm>
          <a:prstGeom prst="roundRect">
            <a:avLst>
              <a:gd name="adj" fmla="val 8000"/>
            </a:avLst>
          </a:prstGeom>
          <a:solidFill>
            <a:srgbClr val="77A2BB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Tree 2</a:t>
            </a:r>
          </a:p>
        </p:txBody>
      </p:sp>
      <p:sp>
        <p:nvSpPr>
          <p:cNvPr id="6" name="Tree 3"/>
          <p:cNvSpPr/>
          <p:nvPr/>
        </p:nvSpPr>
        <p:spPr>
          <a:xfrm>
            <a:off x="8848532" y="1450000"/>
            <a:ext cx="1000000" cy="800000"/>
          </a:xfrm>
          <a:prstGeom prst="roundRect">
            <a:avLst>
              <a:gd name="adj" fmla="val 8000"/>
            </a:avLst>
          </a:prstGeom>
          <a:solidFill>
            <a:srgbClr val="77A2BB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Tree 3</a:t>
            </a:r>
          </a:p>
        </p:txBody>
      </p:sp>
      <p:sp>
        <p:nvSpPr>
          <p:cNvPr id="7" name="Tree 4"/>
          <p:cNvSpPr/>
          <p:nvPr/>
        </p:nvSpPr>
        <p:spPr>
          <a:xfrm>
            <a:off x="9972798" y="1450000"/>
            <a:ext cx="1000000" cy="800000"/>
          </a:xfrm>
          <a:prstGeom prst="roundRect">
            <a:avLst>
              <a:gd name="adj" fmla="val 8000"/>
            </a:avLst>
          </a:prstGeom>
          <a:solidFill>
            <a:srgbClr val="77A2BB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Tree 200</a:t>
            </a:r>
          </a:p>
        </p:txBody>
      </p:sp>
      <p:sp>
        <p:nvSpPr>
          <p:cNvPr id="8" name="Arrow 8"/>
          <p:cNvSpPr/>
          <p:nvPr/>
        </p:nvSpPr>
        <p:spPr>
          <a:xfrm>
            <a:off x="8616400" y="2400000"/>
            <a:ext cx="340000" cy="42000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Combine"/>
          <p:cNvSpPr/>
          <p:nvPr/>
        </p:nvSpPr>
        <p:spPr>
          <a:xfrm>
            <a:off x="6600000" y="2950000"/>
            <a:ext cx="4372800" cy="850000"/>
          </a:xfrm>
          <a:prstGeom prst="roundRect">
            <a:avLst>
              <a:gd name="adj" fmla="val 8000"/>
            </a:avLst>
          </a:prstGeom>
          <a:solidFill>
            <a:srgbClr val="E6C069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Predictions combined</a:t>
            </a:r>
          </a:p>
        </p:txBody>
      </p:sp>
      <p:sp>
        <p:nvSpPr>
          <p:cNvPr id="10" name="Arrow 10"/>
          <p:cNvSpPr/>
          <p:nvPr/>
        </p:nvSpPr>
        <p:spPr>
          <a:xfrm>
            <a:off x="8616400" y="3900000"/>
            <a:ext cx="340000" cy="420000"/>
          </a:xfrm>
          <a:prstGeom prst="downArrow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utput label"/>
          <p:cNvSpPr txBox="1"/>
          <p:nvPr/>
        </p:nvSpPr>
        <p:spPr>
          <a:xfrm>
            <a:off x="6600000" y="4450000"/>
            <a:ext cx="4372800" cy="36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Output</a:t>
            </a:r>
          </a:p>
        </p:txBody>
      </p:sp>
      <p:sp>
        <p:nvSpPr>
          <p:cNvPr id="12" name="Leaf completed"/>
          <p:cNvSpPr/>
          <p:nvPr/>
        </p:nvSpPr>
        <p:spPr>
          <a:xfrm>
            <a:off x="6600000" y="4850000"/>
            <a:ext cx="2086400" cy="850000"/>
          </a:xfrm>
          <a:prstGeom prst="roundRect">
            <a:avLst>
              <a:gd name="adj" fmla="val 8000"/>
            </a:avLst>
          </a:prstGeom>
          <a:solidFill>
            <a:srgbClr val="8DAB8E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Purchase Completed</a:t>
            </a:r>
          </a:p>
        </p:txBody>
      </p:sp>
      <p:sp>
        <p:nvSpPr>
          <p:cNvPr id="13" name="Leaf abandoned"/>
          <p:cNvSpPr/>
          <p:nvPr/>
        </p:nvSpPr>
        <p:spPr>
          <a:xfrm>
            <a:off x="8886400" y="4850000"/>
            <a:ext cx="2086400" cy="850000"/>
          </a:xfrm>
          <a:prstGeom prst="roundRect">
            <a:avLst>
              <a:gd name="adj" fmla="val 8000"/>
            </a:avLst>
          </a:prstGeom>
          <a:solidFill>
            <a:srgbClr val="E28394"/>
          </a:solidFill>
          <a:ln>
            <a:noFill/>
          </a:ln>
        </p:spPr>
        <p:txBody>
          <a:bodyPr wrap="square" lIns="45720" tIns="45720" r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Cart Abandoned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Performance Evaluation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1371600" y="1350000"/>
          <a:ext cx="9601200" cy="2820000"/>
        </p:xfrm>
        <a:graphic>
          <a:graphicData uri="http://schemas.openxmlformats.org/drawingml/2006/table">
            <a:tbl>
              <a:tblPr firstRow="1"/>
              <a:tblGrid>
                <a:gridCol w="1600000"/>
                <a:gridCol w="3900000"/>
                <a:gridCol w="2050000"/>
                <a:gridCol w="2051200"/>
              </a:tblGrid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Metric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What it measures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Decision Tree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bg2"/>
                          </a:solidFill>
                        </a:rPr>
                        <a:t>Random Forest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Accuracy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Overall correctness of predictions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74.0%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73.3%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Precision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Correctness of predicted abandoned carts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74.6%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75.2%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Recall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Share of actual abandoned carts identified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64.7%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61.4%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F1-Score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Balance between precision and recall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69.3%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67.6%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</a:tr>
              <a:tr h="47000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ROC-AUC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Ability to rank abandoners above buyers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0.808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chemeClr val="tx2"/>
                          </a:solidFill>
                        </a:rPr>
                        <a:t>0.833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DT strength"/>
          <p:cNvSpPr/>
          <p:nvPr/>
        </p:nvSpPr>
        <p:spPr>
          <a:xfrm>
            <a:off x="1371600" y="4700000"/>
            <a:ext cx="4686300" cy="1350000"/>
          </a:xfrm>
          <a:prstGeom prst="roundRect">
            <a:avLst>
              <a:gd name="adj" fmla="val 8000"/>
            </a:avLst>
          </a:prstGeom>
          <a:solidFill>
            <a:srgbClr val="77A2BB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Decision Tree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Higher accuracy (74.0%), recall (64.7%) and F1 (69.3%); easy-to-read rules.</a:t>
            </a:r>
          </a:p>
        </p:txBody>
      </p:sp>
      <p:sp>
        <p:nvSpPr>
          <p:cNvPr id="5" name="RF strength"/>
          <p:cNvSpPr/>
          <p:nvPr/>
        </p:nvSpPr>
        <p:spPr>
          <a:xfrm>
            <a:off x="6286500" y="4700000"/>
            <a:ext cx="4686300" cy="1350000"/>
          </a:xfrm>
          <a:prstGeom prst="roundRect">
            <a:avLst>
              <a:gd name="adj" fmla="val 8000"/>
            </a:avLst>
          </a:prstGeom>
          <a:solidFill>
            <a:srgbClr val="8DAB8E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Random Forest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Higher precision (75.2%) and ROC-AUC (0.833); better at ranking customers by risk.</a:t>
            </a:r>
          </a:p>
        </p:txBody>
      </p:sp>
      <p:sp>
        <p:nvSpPr>
          <p:cNvPr id="6" name="Caption"/>
          <p:cNvSpPr txBox="1"/>
          <p:nvPr/>
        </p:nvSpPr>
        <p:spPr>
          <a:xfrm>
            <a:off x="1371600" y="6150000"/>
            <a:ext cx="96012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>
                <a:solidFill>
                  <a:schemeClr val="tx2"/>
                </a:solidFill>
              </a:rPr>
              <a:t>Evaluated on the 600 held-out test customers. Best value in each row is bold.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Confusion Matrix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1371600" y="1300000"/>
            <a:ext cx="9601200" cy="1650000"/>
          </a:xfrm>
        </p:spPr>
        <p:txBody>
          <a:bodyPr>
            <a:normAutofit/>
          </a:bodyPr>
          <a:lstStyle/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Compares </a:t>
            </a:r>
            <a:r>
              <a:rPr lang="en-US" sz="1600" b="1" dirty="0">
                <a:solidFill>
                  <a:schemeClr val="tx2"/>
                </a:solidFill>
              </a:rPr>
              <a:t>actual</a:t>
            </a:r>
            <a:r>
              <a:rPr lang="en-US" sz="1600" dirty="0">
                <a:solidFill>
                  <a:schemeClr val="tx2"/>
                </a:solidFill>
              </a:rPr>
              <a:t> with </a:t>
            </a:r>
            <a:r>
              <a:rPr lang="en-US" sz="1600" b="1" dirty="0">
                <a:solidFill>
                  <a:schemeClr val="tx2"/>
                </a:solidFill>
              </a:rPr>
              <a:t>predicted</a:t>
            </a:r>
            <a:r>
              <a:rPr lang="en-US" sz="1600" dirty="0">
                <a:solidFill>
                  <a:schemeClr val="tx2"/>
                </a:solidFill>
              </a:rPr>
              <a:t> outcomes on the 600 test customers; the diagonal holds the correct predictions.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The Decision Tree classifies </a:t>
            </a:r>
            <a:r>
              <a:rPr lang="en-US" sz="1600" b="1" dirty="0">
                <a:solidFill>
                  <a:schemeClr val="tx2"/>
                </a:solidFill>
              </a:rPr>
              <a:t>444</a:t>
            </a:r>
            <a:r>
              <a:rPr lang="en-US" sz="1600" dirty="0">
                <a:solidFill>
                  <a:schemeClr val="tx2"/>
                </a:solidFill>
              </a:rPr>
              <a:t> of 600 correctly; the Random Forest </a:t>
            </a:r>
            <a:r>
              <a:rPr lang="en-US" sz="1600" b="1" dirty="0">
                <a:solidFill>
                  <a:schemeClr val="tx2"/>
                </a:solidFill>
              </a:rPr>
              <a:t>440</a:t>
            </a:r>
            <a:r>
              <a:rPr lang="en-US" sz="1600" dirty="0">
                <a:solidFill>
                  <a:schemeClr val="tx2"/>
                </a:solidFill>
              </a:rPr>
              <a:t>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600" dirty="0">
                <a:solidFill>
                  <a:schemeClr val="tx2"/>
                </a:solidFill>
              </a:rPr>
              <a:t>Most errors are missed abandonments (false negatives): </a:t>
            </a:r>
            <a:r>
              <a:rPr lang="en-US" sz="1600" b="1" dirty="0">
                <a:solidFill>
                  <a:schemeClr val="tx2"/>
                </a:solidFill>
              </a:rPr>
              <a:t>96</a:t>
            </a:r>
            <a:r>
              <a:rPr lang="en-US" sz="1600" dirty="0">
                <a:solidFill>
                  <a:schemeClr val="tx2"/>
                </a:solidFill>
              </a:rPr>
              <a:t> for the Decision Tree and </a:t>
            </a:r>
            <a:r>
              <a:rPr lang="en-US" sz="1600" b="1" dirty="0">
                <a:solidFill>
                  <a:schemeClr val="tx2"/>
                </a:solidFill>
              </a:rPr>
              <a:t>105</a:t>
            </a:r>
            <a:r>
              <a:rPr lang="en-US" sz="1600" dirty="0">
                <a:solidFill>
                  <a:schemeClr val="tx2"/>
                </a:solidFill>
              </a:rPr>
              <a:t> for the Random Forest.</a:t>
            </a:r>
          </a:p>
        </p:txBody>
      </p:sp>
      <p:pic>
        <p:nvPicPr>
          <p:cNvPr id="4" name="Confusion matrices" descr="Confusion matrices for Decision Tree and Random For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508" y="3050000"/>
            <a:ext cx="7615384" cy="33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Feature Importance</a:t>
            </a:r>
          </a:p>
        </p:txBody>
      </p:sp>
      <p:sp>
        <p:nvSpPr>
          <p:cNvPr id="3" name="Importance text"/>
          <p:cNvSpPr txBox="1"/>
          <p:nvPr/>
        </p:nvSpPr>
        <p:spPr>
          <a:xfrm>
            <a:off x="1371600" y="1350000"/>
            <a:ext cx="4350000" cy="4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Contribution of each feature to the prediction of cart abandonment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Cart Value</a:t>
            </a:r>
            <a:r>
              <a:rPr lang="en-US" sz="1600" dirty="0">
                <a:solidFill>
                  <a:schemeClr val="tx2"/>
                </a:solidFill>
              </a:rPr>
              <a:t> is the strongest driver in both models (63% / 52%)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Browsing Time</a:t>
            </a:r>
            <a:r>
              <a:rPr lang="en-US" sz="1600" dirty="0">
                <a:solidFill>
                  <a:schemeClr val="tx2"/>
                </a:solidFill>
              </a:rPr>
              <a:t> is next (28% / 30%)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Products Viewed</a:t>
            </a:r>
            <a:r>
              <a:rPr lang="en-US" sz="1600" dirty="0">
                <a:solidFill>
                  <a:schemeClr val="tx2"/>
                </a:solidFill>
              </a:rPr>
              <a:t> also contributes (6% / 10%)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Previous Purchases</a:t>
            </a:r>
            <a:r>
              <a:rPr lang="en-US" sz="1600" dirty="0">
                <a:solidFill>
                  <a:schemeClr val="tx2"/>
                </a:solidFill>
              </a:rPr>
              <a:t> contributes less (3% / 6%)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/>
              <a:buChar char="•"/>
            </a:pPr>
            <a:r>
              <a:rPr lang="en-US" sz="1600" b="1" dirty="0">
                <a:solidFill>
                  <a:schemeClr val="tx2"/>
                </a:solidFill>
              </a:rPr>
              <a:t>Discount Usage</a:t>
            </a:r>
            <a:r>
              <a:rPr lang="en-US" sz="1600" dirty="0">
                <a:solidFill>
                  <a:schemeClr val="tx2"/>
                </a:solidFill>
              </a:rPr>
              <a:t> matters least (&lt;1% / 2%)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>
                <a:solidFill>
                  <a:schemeClr val="tx2"/>
                </a:solidFill>
              </a:rPr>
              <a:t>Percentages: Decision Tree / Random Forest. Permutation importance on the test set also ranks Cart Value first.</a:t>
            </a:r>
          </a:p>
        </p:txBody>
      </p:sp>
      <p:pic>
        <p:nvPicPr>
          <p:cNvPr id="4" name="Feature importance chart" descr="Grouped bar chart of feature importance for both model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800" y="1450000"/>
            <a:ext cx="5000000" cy="37056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Conclusion and Future Scope</a:t>
            </a:r>
          </a:p>
        </p:txBody>
      </p:sp>
      <p:sp>
        <p:nvSpPr>
          <p:cNvPr id="3" name="Conclusion card"/>
          <p:cNvSpPr/>
          <p:nvPr/>
        </p:nvSpPr>
        <p:spPr>
          <a:xfrm>
            <a:off x="1371600" y="1350000"/>
            <a:ext cx="6000000" cy="495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228600" tIns="114300" rIns="228600" bIns="1143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Conclusion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Predicts shopping cart abandonment from five customer behavior features.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Decision Tree and Random Forest perform comparably (74.0% vs 73.3% accuracy); the Random Forest ranks risk better (ROC-AUC 0.833 vs 0.808).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Cart Value is the strongest predictor; Discount Usage is the weakest.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A Flask web app turns the probabilities into retention advice.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Results use synthetic data, so they demonstrate the pipeline rather than real-world performance.</a:t>
            </a:r>
          </a:p>
        </p:txBody>
      </p:sp>
      <p:sp>
        <p:nvSpPr>
          <p:cNvPr id="4" name="Future scope card"/>
          <p:cNvSpPr/>
          <p:nvPr/>
        </p:nvSpPr>
        <p:spPr>
          <a:xfrm>
            <a:off x="7600200" y="1350000"/>
            <a:ext cx="3372600" cy="4950000"/>
          </a:xfrm>
          <a:prstGeom prst="roundRect">
            <a:avLst>
              <a:gd name="adj" fmla="val 8000"/>
            </a:avLst>
          </a:prstGeom>
          <a:solidFill>
            <a:srgbClr val="77A2BB"/>
          </a:solidFill>
          <a:ln>
            <a:noFill/>
          </a:ln>
        </p:spPr>
        <p:txBody>
          <a:bodyPr wrap="square" lIns="228600" tIns="114300" rIns="228600" bIns="11430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200" b="1" dirty="0">
                <a:solidFill>
                  <a:schemeClr val="tx2"/>
                </a:solidFill>
              </a:rPr>
              <a:t>Future Scope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Use larger real-world e-commerce datasets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Include additional customer behavior features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Develop real-time cart abandonment prediction</a:t>
            </a:r>
          </a:p>
          <a:p>
            <a:pPr algn="l" marL="285750" indent="-28575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700" dirty="0">
                <a:solidFill>
                  <a:schemeClr val="tx2"/>
                </a:solidFill>
              </a:rPr>
              <a:t>Integrate the model with e-commerce platforms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Dataset and Experimental Setup</a:t>
            </a:r>
          </a:p>
        </p:txBody>
      </p:sp>
      <p:sp>
        <p:nvSpPr>
          <p:cNvPr id="3" name="Stat 1"/>
          <p:cNvSpPr/>
          <p:nvPr/>
        </p:nvSpPr>
        <p:spPr>
          <a:xfrm>
            <a:off x="1371600" y="1400000"/>
            <a:ext cx="2228850" cy="18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3,000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customer records</a:t>
            </a:r>
          </a:p>
        </p:txBody>
      </p:sp>
      <p:sp>
        <p:nvSpPr>
          <p:cNvPr id="4" name="Stat 2"/>
          <p:cNvSpPr/>
          <p:nvPr/>
        </p:nvSpPr>
        <p:spPr>
          <a:xfrm>
            <a:off x="3829050" y="1400000"/>
            <a:ext cx="2228850" cy="18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80 / 20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train / test split (2,400 / 600)</a:t>
            </a:r>
          </a:p>
        </p:txBody>
      </p:sp>
      <p:sp>
        <p:nvSpPr>
          <p:cNvPr id="5" name="Stat 3"/>
          <p:cNvSpPr/>
          <p:nvPr/>
        </p:nvSpPr>
        <p:spPr>
          <a:xfrm>
            <a:off x="6286500" y="1400000"/>
            <a:ext cx="2228850" cy="18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45.3%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of carts abandoned</a:t>
            </a:r>
          </a:p>
        </p:txBody>
      </p:sp>
      <p:sp>
        <p:nvSpPr>
          <p:cNvPr id="6" name="Stat 4"/>
          <p:cNvSpPr/>
          <p:nvPr/>
        </p:nvSpPr>
        <p:spPr>
          <a:xfrm>
            <a:off x="8743950" y="1400000"/>
            <a:ext cx="2228850" cy="18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3600" b="1" dirty="0">
                <a:solidFill>
                  <a:schemeClr val="tx2"/>
                </a:solidFill>
              </a:rPr>
              <a:t>5-fold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stratified cross-validation</a:t>
            </a:r>
          </a:p>
        </p:txBody>
      </p:sp>
      <p:graphicFrame>
        <p:nvGraphicFramePr>
          <p:cNvPr id="7" name="Model settings table"/>
          <p:cNvGraphicFramePr>
            <a:graphicFrameLocks noGrp="1"/>
          </p:cNvGraphicFramePr>
          <p:nvPr/>
        </p:nvGraphicFramePr>
        <p:xfrm>
          <a:off x="1371600" y="3550000"/>
          <a:ext cx="9601200" cy="1920000"/>
        </p:xfrm>
        <a:graphic>
          <a:graphicData uri="http://schemas.openxmlformats.org/drawingml/2006/table">
            <a:tbl>
              <a:tblPr firstRow="1"/>
              <a:tblGrid>
                <a:gridCol w="2286000"/>
                <a:gridCol w="7315200"/>
              </a:tblGrid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bg2"/>
                          </a:solidFill>
                        </a:rPr>
                        <a:t>Model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bg2"/>
                          </a:solidFill>
                        </a:rPr>
                        <a:t>Settings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tx2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Decision Tree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Gini criterion · max depth 5 · at least 20 samples per leaf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>
                        <a:lumMod val="93000"/>
                      </a:schemeClr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Random Forest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dirty="0">
                          <a:solidFill>
                            <a:schemeClr val="tx2"/>
                          </a:solidFill>
                        </a:rPr>
                        <a:t>200 trees · max depth 10 · at least 5 samples per leaf · out-of-bag scoring</a:t>
                      </a:r>
                    </a:p>
                  </a:txBody>
                  <a:tcPr marL="109728" marR="109728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8" name="Note"/>
          <p:cNvSpPr txBox="1"/>
          <p:nvPr/>
        </p:nvSpPr>
        <p:spPr>
          <a:xfrm>
            <a:off x="1371600" y="5650000"/>
            <a:ext cx="96012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>
                <a:solidFill>
                  <a:schemeClr val="tx2"/>
                </a:solidFill>
              </a:rPr>
              <a:t>The dataset is synthetic (generate_data.py), created with cart value as the strongest signal. Any real e-commerce dataset with the same six columns can be dropped in and the pipeline re-run.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Model Validation</a:t>
            </a:r>
          </a:p>
        </p:txBody>
      </p:sp>
      <p:pic>
        <p:nvPicPr>
          <p:cNvPr id="3" name="ROC and depth curves" descr="ROC curves for both models and train versus test accuracy by tree dept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200" y="1300000"/>
            <a:ext cx="8280000" cy="3450000"/>
          </a:xfrm>
          <a:prstGeom prst="rect">
            <a:avLst/>
          </a:prstGeom>
        </p:spPr>
      </p:pic>
      <p:sp>
        <p:nvSpPr>
          <p:cNvPr id="4" name="Validation stat 1"/>
          <p:cNvSpPr/>
          <p:nvPr/>
        </p:nvSpPr>
        <p:spPr>
          <a:xfrm>
            <a:off x="1371600" y="4950000"/>
            <a:ext cx="3048000" cy="13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0.833 vs 0.808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ROC-AUC, Random Forest vs Decision Tree</a:t>
            </a:r>
          </a:p>
        </p:txBody>
      </p:sp>
      <p:sp>
        <p:nvSpPr>
          <p:cNvPr id="5" name="Validation stat 2"/>
          <p:cNvSpPr/>
          <p:nvPr/>
        </p:nvSpPr>
        <p:spPr>
          <a:xfrm>
            <a:off x="4648200" y="4950000"/>
            <a:ext cx="3048000" cy="13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75.0% vs 73.2%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5-fold CV accuracy, Random Forest vs Decision Tree</a:t>
            </a:r>
          </a:p>
        </p:txBody>
      </p:sp>
      <p:sp>
        <p:nvSpPr>
          <p:cNvPr id="6" name="Validation stat 3"/>
          <p:cNvSpPr/>
          <p:nvPr/>
        </p:nvSpPr>
        <p:spPr>
          <a:xfrm>
            <a:off x="7924800" y="4950000"/>
            <a:ext cx="3048000" cy="13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Depth 5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best test accuracy; deeper trees over-fit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1371600" y="380000"/>
            <a:ext cx="9601200" cy="800000"/>
          </a:xfrm>
        </p:spPr>
        <p:txBody>
          <a:bodyPr anchor="ctr">
            <a:normAutofit/>
          </a:bodyPr>
          <a:lstStyle/>
          <a:p>
            <a:r>
              <a:rPr lang="en-US" sz="3600" dirty="0"/>
              <a:t>Web Application</a:t>
            </a:r>
          </a:p>
        </p:txBody>
      </p:sp>
      <p:sp>
        <p:nvSpPr>
          <p:cNvPr id="3" name="Flow 1"/>
          <p:cNvSpPr/>
          <p:nvPr/>
        </p:nvSpPr>
        <p:spPr>
          <a:xfrm>
            <a:off x="1371600" y="1400000"/>
            <a:ext cx="2100000" cy="20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Input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Customer’s five features are entered on the site</a:t>
            </a:r>
          </a:p>
        </p:txBody>
      </p:sp>
      <p:sp>
        <p:nvSpPr>
          <p:cNvPr id="4" name="Arrow 4"/>
          <p:cNvSpPr/>
          <p:nvPr/>
        </p:nvSpPr>
        <p:spPr>
          <a:xfrm>
            <a:off x="3521800" y="2250000"/>
            <a:ext cx="300000" cy="30000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Flow 2"/>
          <p:cNvSpPr/>
          <p:nvPr/>
        </p:nvSpPr>
        <p:spPr>
          <a:xfrm>
            <a:off x="3872000" y="1400000"/>
            <a:ext cx="2100000" cy="20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Flask API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POST /api/predict validates the values</a:t>
            </a:r>
          </a:p>
        </p:txBody>
      </p:sp>
      <p:sp>
        <p:nvSpPr>
          <p:cNvPr id="6" name="Arrow 6"/>
          <p:cNvSpPr/>
          <p:nvPr/>
        </p:nvSpPr>
        <p:spPr>
          <a:xfrm>
            <a:off x="6022200" y="2250000"/>
            <a:ext cx="300000" cy="30000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Flow 3"/>
          <p:cNvSpPr/>
          <p:nvPr/>
        </p:nvSpPr>
        <p:spPr>
          <a:xfrm>
            <a:off x="6372400" y="1400000"/>
            <a:ext cx="2100000" cy="20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Models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Decision Tree and Random Forest each return a probability</a:t>
            </a:r>
          </a:p>
        </p:txBody>
      </p:sp>
      <p:sp>
        <p:nvSpPr>
          <p:cNvPr id="8" name="Arrow 8"/>
          <p:cNvSpPr/>
          <p:nvPr/>
        </p:nvSpPr>
        <p:spPr>
          <a:xfrm>
            <a:off x="8522600" y="2250000"/>
            <a:ext cx="300000" cy="300000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Flow 4"/>
          <p:cNvSpPr/>
          <p:nvPr/>
        </p:nvSpPr>
        <p:spPr>
          <a:xfrm>
            <a:off x="8872800" y="1400000"/>
            <a:ext cx="2100000" cy="2000000"/>
          </a:xfrm>
          <a:prstGeom prst="roundRect">
            <a:avLst>
              <a:gd name="adj" fmla="val 8000"/>
            </a:avLst>
          </a:prstGeom>
          <a:solidFill>
            <a:schemeClr val="bg2">
              <a:lumMod val="93000"/>
            </a:schemeClr>
          </a:solidFill>
          <a:ln>
            <a:noFill/>
          </a:ln>
        </p:spPr>
        <p:txBody>
          <a:bodyPr wrap="square" lIns="137160" tIns="68580" rIns="137160" bIns="6858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2"/>
                </a:solidFill>
              </a:rPr>
              <a:t>Result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Label, probability, rule path and advice</a:t>
            </a:r>
          </a:p>
        </p:txBody>
      </p:sp>
      <p:sp>
        <p:nvSpPr>
          <p:cNvPr id="10" name="Advice heading"/>
          <p:cNvSpPr txBox="1"/>
          <p:nvPr/>
        </p:nvSpPr>
        <p:spPr>
          <a:xfrm>
            <a:off x="1371600" y="3700000"/>
            <a:ext cx="9601200" cy="4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Risk-based advice (from the Random Forest probability)</a:t>
            </a:r>
          </a:p>
        </p:txBody>
      </p:sp>
      <p:sp>
        <p:nvSpPr>
          <p:cNvPr id="11" name="Tier 1"/>
          <p:cNvSpPr/>
          <p:nvPr/>
        </p:nvSpPr>
        <p:spPr>
          <a:xfrm>
            <a:off x="1371600" y="4200000"/>
            <a:ext cx="3048000" cy="1750000"/>
          </a:xfrm>
          <a:prstGeom prst="roundRect">
            <a:avLst>
              <a:gd name="adj" fmla="val 8000"/>
            </a:avLst>
          </a:prstGeom>
          <a:solidFill>
            <a:srgbClr val="E28394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High risk · ≥ 70%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Send a reminder plus a personalised discount or free shipping now.</a:t>
            </a:r>
          </a:p>
        </p:txBody>
      </p:sp>
      <p:sp>
        <p:nvSpPr>
          <p:cNvPr id="12" name="Tier 2"/>
          <p:cNvSpPr/>
          <p:nvPr/>
        </p:nvSpPr>
        <p:spPr>
          <a:xfrm>
            <a:off x="4648200" y="4200000"/>
            <a:ext cx="3048000" cy="1750000"/>
          </a:xfrm>
          <a:prstGeom prst="roundRect">
            <a:avLst>
              <a:gd name="adj" fmla="val 8000"/>
            </a:avLst>
          </a:prstGeom>
          <a:solidFill>
            <a:srgbClr val="E6C069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Medium · 40–70%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Show a cart reminder or a limited-time offer.</a:t>
            </a:r>
          </a:p>
        </p:txBody>
      </p:sp>
      <p:sp>
        <p:nvSpPr>
          <p:cNvPr id="13" name="Tier 3"/>
          <p:cNvSpPr/>
          <p:nvPr/>
        </p:nvSpPr>
        <p:spPr>
          <a:xfrm>
            <a:off x="7924800" y="4200000"/>
            <a:ext cx="3048000" cy="1750000"/>
          </a:xfrm>
          <a:prstGeom prst="roundRect">
            <a:avLst>
              <a:gd name="adj" fmla="val 8000"/>
            </a:avLst>
          </a:prstGeom>
          <a:solidFill>
            <a:srgbClr val="8DAB8E"/>
          </a:solidFill>
          <a:ln>
            <a:noFill/>
          </a:ln>
        </p:spPr>
        <p:txBody>
          <a:bodyPr wrap="square" lIns="182880" tIns="91440" rIns="18288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Low risk · &lt; 40%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Likely to buy; no intervention needed.</a:t>
            </a:r>
          </a:p>
        </p:txBody>
      </p:sp>
      <p:sp>
        <p:nvSpPr>
          <p:cNvPr id="14" name="Caption"/>
          <p:cNvSpPr txBox="1"/>
          <p:nvPr/>
        </p:nvSpPr>
        <p:spPr>
          <a:xfrm>
            <a:off x="1371600" y="6150000"/>
            <a:ext cx="9601200" cy="32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1" dirty="0">
                <a:solidFill>
                  <a:schemeClr val="tx2"/>
                </a:solidFill>
              </a:rPr>
              <a:t>The site also loads the model metrics from /api/metrics to draw its charts.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{F7238944-CD02-4AA9-8118-8AC96B7B2BCC}TFc3084226-2d0c-440f-9f46-6b48c7a7f670e6ba4a85-fc4a2881d6b3</Template>
  <TotalTime>97</TotalTime>
  <Words>840</Words>
  <Application>Microsoft Office PowerPoint</Application>
  <PresentationFormat>Widescreen</PresentationFormat>
  <Paragraphs>102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Franklin Gothic Book</vt:lpstr>
      <vt:lpstr>Crop</vt:lpstr>
      <vt:lpstr>Shopping Cart Abandonment Prediction Using Decision Trees and Random Forest</vt:lpstr>
      <vt:lpstr>Shopping Cart Abandonment in E-Commerce: </vt:lpstr>
      <vt:lpstr>Problem Statement:</vt:lpstr>
      <vt:lpstr>Project Objectives:</vt:lpstr>
      <vt:lpstr>Features Used:                 Customer Behavior &amp; Transaction Features </vt:lpstr>
      <vt:lpstr>PowerPoint Presentation</vt:lpstr>
      <vt:lpstr>Decision Tree Algorithm:</vt:lpstr>
      <vt:lpstr>Random Forest Algorithm: </vt:lpstr>
      <vt:lpstr>Performance Evaluation</vt:lpstr>
      <vt:lpstr>Confusion Matrix:</vt:lpstr>
      <vt:lpstr>Feature Importance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yamini katta</dc:creator>
  <cp:lastModifiedBy>yamini katta</cp:lastModifiedBy>
  <cp:revision>3</cp:revision>
  <dcterms:created xsi:type="dcterms:W3CDTF">2026-09-23T03:45:12Z</dcterms:created>
  <dcterms:modified xsi:type="dcterms:W3CDTF">2026-09-24T03:15:38Z</dcterms:modified>
</cp:coreProperties>
</file>